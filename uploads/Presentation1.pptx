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000000"/>
    <a:srgbClr val="4472C4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3D3A-80D8-4C54-BA2A-EA22C35B8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39877-DC1D-4284-BB64-580AFE34F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20675-BC06-4583-90FC-16C53DC5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99FB0-0DD7-4223-9743-0199D41B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C83B2-72D5-4D4A-AA32-1BB6311E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1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FEAE-19AE-4208-8D5E-873CEF7B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62524-B1CC-43E5-81C5-FBE62F692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855EC-CEE6-4684-A0FF-BB0C2950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A48A-D08C-4A25-835C-2441EA9D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1D7EE-BAE5-48D5-A4E3-BC9738EE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83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644C-EA89-4F7E-9AF4-7AC31F1C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166F5-32F3-4E5C-9CCD-D86AC586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3B239-ABB3-4C1B-8B01-1155455C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A73BF-879E-450A-9D48-7BAA0C2E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A5CAF-C1BB-432E-9380-AC02C610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65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C24E-4C6D-4B9B-B793-3AEEC843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7DF3A-B9F6-4B86-A21E-2E1A1E635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7CF34-2F73-4AEC-9F1F-1DAE6A41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3228C-D259-4931-8794-117D84B0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E4EFB-A061-4A44-9557-2BA4D33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4ADF-6364-4396-8126-C13C7C00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3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7AAB-4C62-428C-BB31-CB9480D8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EB3A0-B7E0-4418-B30A-2AC779BE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BE07A-469C-4EE2-82CE-019C6535E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2609E-21CC-4023-80B5-7D4F4A32D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B70D3-6606-402C-A818-C3D0896D7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F22C4-280B-47B5-B26A-0CD33DE4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E53CC-8A55-45D8-BF20-D2D5D129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9B566-D33B-4BEF-A1CE-3892D75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37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A4A3-3CA5-4263-9B5F-03073EBF3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CBAEA-0446-4182-A947-264008C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1FAD0-F29C-4827-BAAF-28CBE0D2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B2554-0F5F-4A8E-933F-2807FF1D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36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75280-32C9-468C-A4C4-FFD06B41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28681-2F10-4623-8B6E-86D9EB93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21103-7710-4AB4-BFCA-21FDD3AB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85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1913-CFB5-40D3-9CC1-1FF4F9B0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1E56-8568-41C3-A9C6-B851E3D9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925BD-8CC1-4DCC-9745-0EED8F185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DC5A2-8CAB-484B-A702-63B0DA85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BA50-A78E-49DC-979D-5708368A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2A3F-44D0-4F06-A718-B29D6579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45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DA0E-7FBB-4ECF-9456-DA5795F3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31C47-4963-4347-AEC4-30229F44B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2F3D5-71B5-4124-8CE8-EF0D3B57C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D3D77-661A-4EE8-82EB-B4E5C81A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97B9-B359-4878-B6FD-F379E9BC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63131-6251-4A57-B106-9A953280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50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4271-5726-4D81-8CE3-B1DCB2E8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3A6BC-24CF-4C21-BE73-A89F5AB1D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3BA0-6E17-45B8-A09E-66B62E3E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33A5D-37BD-467E-B5BC-A5163BF8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61004-1E2D-45A9-896C-C6AF1D68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57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AF3E81-F3D6-4859-A058-B32C8D0A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8184B-4FA2-4A40-AD23-CDF79A75A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6F9B-5A0F-498A-8761-9C45C769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547B4-1FED-4871-9D12-581A7E51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64AFE-9B12-4C3F-B322-7FD5028E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16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58AA1E-9B2C-410A-B772-6E893A0D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D52CC-D7E8-47B8-B956-D80D930B2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EA82-7889-4785-806A-09B84CAFA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CF3A6-854E-43C2-AC2F-AB21932CC8AA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ED38-8996-4ABA-9113-12ACF21B7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D7CDD-3F50-4D2C-B7C8-1B543970C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F1138-29AE-4C86-BE6D-2483A842F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6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E408-513D-4D95-BC4C-C429FE8FD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2CDD7-1C96-4EA7-9998-4EF03C7113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3C1BD-7C36-4C2C-B92D-785AB4616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3C0D2E-304C-4F46-85D4-F3AD34AAA287}"/>
              </a:ext>
            </a:extLst>
          </p:cNvPr>
          <p:cNvSpPr/>
          <p:nvPr/>
        </p:nvSpPr>
        <p:spPr>
          <a:xfrm>
            <a:off x="0" y="119831"/>
            <a:ext cx="2675823" cy="3764013"/>
          </a:xfrm>
          <a:prstGeom prst="rect">
            <a:avLst/>
          </a:prstGeom>
          <a:solidFill>
            <a:srgbClr val="4472C4">
              <a:alpha val="0"/>
            </a:srgbClr>
          </a:solidFill>
          <a:ln w="3175">
            <a:solidFill>
              <a:srgbClr val="2F528F">
                <a:alpha val="18039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TEAM MEMBERS</a:t>
            </a:r>
          </a:p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Name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Shumail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medhi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(group leader)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Rayanullah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M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Sheraz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Qasim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Arman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javeed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Ali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yasir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91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DAE2-F26A-45D4-8963-D3C7B865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TABLE OF CONTENTS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AE141F-4104-4A9F-8B42-78578D0CC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738298"/>
              </p:ext>
            </p:extLst>
          </p:nvPr>
        </p:nvGraphicFramePr>
        <p:xfrm>
          <a:off x="0" y="1039528"/>
          <a:ext cx="12192000" cy="58184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4025">
                  <a:extLst>
                    <a:ext uri="{9D8B030D-6E8A-4147-A177-3AD203B41FA5}">
                      <a16:colId xmlns:a16="http://schemas.microsoft.com/office/drawing/2014/main" val="1502053417"/>
                    </a:ext>
                  </a:extLst>
                </a:gridCol>
                <a:gridCol w="9509419">
                  <a:extLst>
                    <a:ext uri="{9D8B030D-6E8A-4147-A177-3AD203B41FA5}">
                      <a16:colId xmlns:a16="http://schemas.microsoft.com/office/drawing/2014/main" val="4135847674"/>
                    </a:ext>
                  </a:extLst>
                </a:gridCol>
                <a:gridCol w="1758556">
                  <a:extLst>
                    <a:ext uri="{9D8B030D-6E8A-4147-A177-3AD203B41FA5}">
                      <a16:colId xmlns:a16="http://schemas.microsoft.com/office/drawing/2014/main" val="730937927"/>
                    </a:ext>
                  </a:extLst>
                </a:gridCol>
              </a:tblGrid>
              <a:tr h="9766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Section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Title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Page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extLst>
                  <a:ext uri="{0D108BD9-81ED-4DB2-BD59-A6C34878D82A}">
                    <a16:rowId xmlns:a16="http://schemas.microsoft.com/office/drawing/2014/main" val="791024104"/>
                  </a:ext>
                </a:extLst>
              </a:tr>
              <a:tr h="325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Scope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720039872"/>
                  </a:ext>
                </a:extLst>
              </a:tr>
              <a:tr h="78479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Functional Requirements - Overview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2655188455"/>
                  </a:ext>
                </a:extLst>
              </a:tr>
              <a:tr h="5509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Detailed Functional Requirements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952388327"/>
                  </a:ext>
                </a:extLst>
              </a:tr>
              <a:tr h="5509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Non-Functional Requirements (NFR)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683370705"/>
                  </a:ext>
                </a:extLst>
              </a:tr>
              <a:tr h="5509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Work Breakdown Structure (WBS)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633278134"/>
                  </a:ext>
                </a:extLst>
              </a:tr>
              <a:tr h="325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Schedule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28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1184775602"/>
                  </a:ext>
                </a:extLst>
              </a:tr>
              <a:tr h="5509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Cost Estimation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31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1063056098"/>
                  </a:ext>
                </a:extLst>
              </a:tr>
              <a:tr h="325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Risk Register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34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2896900465"/>
                  </a:ext>
                </a:extLst>
              </a:tr>
              <a:tr h="325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Project Baseline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36</a:t>
                      </a:r>
                      <a:endParaRPr lang="en-GB" sz="7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552012948"/>
                  </a:ext>
                </a:extLst>
              </a:tr>
              <a:tr h="5509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10</a:t>
                      </a:r>
                      <a:endParaRPr lang="en-GB" sz="7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Planned vs. Actual Performance</a:t>
                      </a:r>
                      <a:endParaRPr lang="en-GB" sz="7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73526" marT="45954" marB="4595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38</a:t>
                      </a:r>
                      <a:endParaRPr lang="en-GB" sz="7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526" marR="0" marT="45954" marB="45954" anchor="ctr"/>
                </a:tc>
                <a:extLst>
                  <a:ext uri="{0D108BD9-81ED-4DB2-BD59-A6C34878D82A}">
                    <a16:rowId xmlns:a16="http://schemas.microsoft.com/office/drawing/2014/main" val="27561470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64B9CCF-6F65-45A3-A2F3-418C26136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987" y="1031250"/>
            <a:ext cx="184731" cy="861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03136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079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287C-0291-42A4-9FBB-C28769B9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 PROJECT SCOPE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3650-D031-4E7A-9293-3A56F64D0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b="1" dirty="0"/>
              <a:t>1.1 Project Overview</a:t>
            </a:r>
            <a:endParaRPr lang="en-GB" sz="3200" b="1" dirty="0"/>
          </a:p>
          <a:p>
            <a:pPr marL="0" indent="0" algn="ctr">
              <a:buNone/>
            </a:pPr>
            <a:r>
              <a:rPr lang="en-US" sz="3200" dirty="0"/>
              <a:t>The Hospital Management System (HMS) is a comprehensive web-based platform designed to </a:t>
            </a:r>
            <a:r>
              <a:rPr lang="en-US" sz="3200" dirty="0" err="1"/>
              <a:t>digitise</a:t>
            </a:r>
            <a:r>
              <a:rPr lang="en-US" sz="3200" dirty="0"/>
              <a:t>, integrate, and automate the full spectrum of hospital operations at a modern healthcare facility.</a:t>
            </a:r>
            <a:endParaRPr lang="en-GB" sz="3200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942A9D-AECE-4B4A-8170-9820212672D6}"/>
              </a:ext>
            </a:extLst>
          </p:cNvPr>
          <p:cNvSpPr/>
          <p:nvPr/>
        </p:nvSpPr>
        <p:spPr>
          <a:xfrm>
            <a:off x="0" y="-9625"/>
            <a:ext cx="45719" cy="1155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1AD5E-1F10-40E4-87B9-E7DC863F1BAC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>
            <a:blip r:embed="rId2">
              <a:alphaModFix amt="26000"/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9846"/>
                      </a14:imgEffect>
                      <a14:imgEffect>
                        <a14:saturation sat="2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19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63FC-A5A3-4B1B-9FB9-40F5DBFA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1.2 Project Objectives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15E651-4997-4488-8E33-0AA08332A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4579792"/>
              </p:ext>
            </p:extLst>
          </p:nvPr>
        </p:nvGraphicFramePr>
        <p:xfrm>
          <a:off x="0" y="985521"/>
          <a:ext cx="12192000" cy="58724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587370590"/>
                    </a:ext>
                  </a:extLst>
                </a:gridCol>
                <a:gridCol w="11186160">
                  <a:extLst>
                    <a:ext uri="{9D8B030D-6E8A-4147-A177-3AD203B41FA5}">
                      <a16:colId xmlns:a16="http://schemas.microsoft.com/office/drawing/2014/main" val="2637011782"/>
                    </a:ext>
                  </a:extLst>
                </a:gridCol>
              </a:tblGrid>
              <a:tr h="7230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Develop a fully functional multi-role hospital management platform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2194091276"/>
                  </a:ext>
                </a:extLst>
              </a:tr>
              <a:tr h="13367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Enable clinical administration including patient registration, appointment scheduling, and EMR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4153059538"/>
                  </a:ext>
                </a:extLst>
              </a:tr>
              <a:tr h="1029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Provide patients with an intuitive self-service portal for appointments, prescriptions, and billing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3544204556"/>
                  </a:ext>
                </a:extLst>
              </a:tr>
              <a:tr h="7230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Implement an integrated pharmacy and laboratory management module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2359844771"/>
                  </a:ext>
                </a:extLst>
              </a:tr>
              <a:tr h="1029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Ensure secure, role-based access control with comprehensive audit trails (HIPAA compliance)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1034385587"/>
                  </a:ext>
                </a:extLst>
              </a:tr>
              <a:tr h="1029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4212" marT="52632" marB="526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Deliver real-time notifications, analytics dashboards, and exportable management reports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4212" marR="0" marT="52632" marB="52632" anchor="ctr"/>
                </a:tc>
                <a:extLst>
                  <a:ext uri="{0D108BD9-81ED-4DB2-BD59-A6C34878D82A}">
                    <a16:rowId xmlns:a16="http://schemas.microsoft.com/office/drawing/2014/main" val="350464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71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92EE-D921-436D-819B-CF9457EE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1.3 Target Audience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969C2E-7F0C-4D20-9C2E-DF023E1D3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548253"/>
              </p:ext>
            </p:extLst>
          </p:nvPr>
        </p:nvGraphicFramePr>
        <p:xfrm>
          <a:off x="0" y="1076960"/>
          <a:ext cx="12192000" cy="58639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07837812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065491809"/>
                    </a:ext>
                  </a:extLst>
                </a:gridCol>
              </a:tblGrid>
              <a:tr h="3282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User Role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66578" marT="41611" marB="41611" anchor="ctr"/>
                </a:tc>
                <a:extLst>
                  <a:ext uri="{0D108BD9-81ED-4DB2-BD59-A6C34878D82A}">
                    <a16:rowId xmlns:a16="http://schemas.microsoft.com/office/drawing/2014/main" val="1879923707"/>
                  </a:ext>
                </a:extLst>
              </a:tr>
              <a:tr h="800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Patients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Individuals needing access to appointments, medical records, prescriptions, and billing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1999299611"/>
                  </a:ext>
                </a:extLst>
              </a:tr>
              <a:tr h="800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Doctors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Medical staff managing patient care, prescriptions, diagnoses, and lab reports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2541238115"/>
                  </a:ext>
                </a:extLst>
              </a:tr>
              <a:tr h="800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Nurses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 staff handling patient vitals, medication administration, and care notes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3460159500"/>
                  </a:ext>
                </a:extLst>
              </a:tr>
              <a:tr h="8009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Reception Staff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Front desk handling patient registration, appointments, and admissions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2662192785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Pharmacists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Staff managing drug inventory, prescriptions, and dispensing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2943110383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Lab Technicians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Staff processing diagnostic tests and uploading results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2287438611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Administrators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Hospital management handling finance, HR, facilities, and reporting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179646129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Security Personnel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66578" marT="41611" marB="41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Staff monitoring hospital entry/exit, visitor logs, and incident reporting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578" marR="0" marT="41611" marB="41611" anchor="ctr"/>
                </a:tc>
                <a:extLst>
                  <a:ext uri="{0D108BD9-81ED-4DB2-BD59-A6C34878D82A}">
                    <a16:rowId xmlns:a16="http://schemas.microsoft.com/office/drawing/2014/main" val="387087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46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F5C9-CC56-418F-8041-8A6D957F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1.4 In-Scope vs Out-of-Scope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37C8A9-FA9A-4AA3-B3C4-564FB4783D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787168"/>
              </p:ext>
            </p:extLst>
          </p:nvPr>
        </p:nvGraphicFramePr>
        <p:xfrm>
          <a:off x="0" y="1097280"/>
          <a:ext cx="12192000" cy="6014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23276867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226053287"/>
                    </a:ext>
                  </a:extLst>
                </a:gridCol>
              </a:tblGrid>
              <a:tr h="373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In-Scope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Out-of-Scope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77041" marT="48151" marB="48151" anchor="ctr"/>
                </a:tc>
                <a:extLst>
                  <a:ext uri="{0D108BD9-81ED-4DB2-BD59-A6C34878D82A}">
                    <a16:rowId xmlns:a16="http://schemas.microsoft.com/office/drawing/2014/main" val="227091931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Patient registration and authentication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Native mobile apps (iOS/Android)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680721635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 management (appointments, EMR, prescriptions)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Blockchain-based medical record verification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3533942872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Billing with online payment gateways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AI-powered diagnostic recommendations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3456983637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Pharmacy management with inventory tracking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Third-party EHR deep integration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3776652592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Laboratory management with test results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Telemedicine/video consultation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1220791079"/>
                  </a:ext>
                </a:extLst>
              </a:tr>
              <a:tr h="6488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Ward/bed management with admissions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3521397553"/>
                  </a:ext>
                </a:extLst>
              </a:tr>
              <a:tr h="373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Staff shift scheduling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2306350431"/>
                  </a:ext>
                </a:extLst>
              </a:tr>
              <a:tr h="373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Visitor and security with QR access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2545023589"/>
                  </a:ext>
                </a:extLst>
              </a:tr>
              <a:tr h="373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Real-time notifications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1610445244"/>
                  </a:ext>
                </a:extLst>
              </a:tr>
              <a:tr h="373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Admin panel and analytics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7041" marT="48151" marB="481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7041" marR="0" marT="48151" marB="48151" anchor="ctr"/>
                </a:tc>
                <a:extLst>
                  <a:ext uri="{0D108BD9-81ED-4DB2-BD59-A6C34878D82A}">
                    <a16:rowId xmlns:a16="http://schemas.microsoft.com/office/drawing/2014/main" val="171032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34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7E92-C591-4669-AF17-E8BAA849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1.5 Assumptions &amp; Constraints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05F0F5-209D-415B-BC65-A1A583D46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492484"/>
              </p:ext>
            </p:extLst>
          </p:nvPr>
        </p:nvGraphicFramePr>
        <p:xfrm>
          <a:off x="0" y="1164658"/>
          <a:ext cx="12192000" cy="56933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787437993"/>
                    </a:ext>
                  </a:extLst>
                </a:gridCol>
              </a:tblGrid>
              <a:tr h="1138669"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Users will have access to a modern web browser and stable internet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589373"/>
                  </a:ext>
                </a:extLst>
              </a:tr>
              <a:tr h="1138669"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Third-party payment gateways (Stripe,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JazzCash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EasyPaisa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) will be used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5819690"/>
                  </a:ext>
                </a:extLst>
              </a:tr>
              <a:tr h="1138669"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Platform deployed on cloud infrastructure (AWS/Azure) using student credits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5214304"/>
                  </a:ext>
                </a:extLst>
              </a:tr>
              <a:tr h="1138669"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Development by four team members as university capstone project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8523646"/>
                  </a:ext>
                </a:extLst>
              </a:tr>
              <a:tr h="1138669"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Initial launch targets single hospital campus with English support only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032129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A5312F0-ACC2-436E-B95F-FA032E3728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alphaModFix amt="26000"/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2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05A6-0B5B-4F37-9067-71AA67CF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FUNCTIONAL REQUIREMENTS — OVERVIEW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4F0678-6F07-4FEF-922E-CFEC57694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220752"/>
              </p:ext>
            </p:extLst>
          </p:nvPr>
        </p:nvGraphicFramePr>
        <p:xfrm>
          <a:off x="0" y="1155033"/>
          <a:ext cx="12192000" cy="57029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567">
                  <a:extLst>
                    <a:ext uri="{9D8B030D-6E8A-4147-A177-3AD203B41FA5}">
                      <a16:colId xmlns:a16="http://schemas.microsoft.com/office/drawing/2014/main" val="135911577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112554443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2244742904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4224636918"/>
                    </a:ext>
                  </a:extLst>
                </a:gridCol>
                <a:gridCol w="1647567">
                  <a:extLst>
                    <a:ext uri="{9D8B030D-6E8A-4147-A177-3AD203B41FA5}">
                      <a16:colId xmlns:a16="http://schemas.microsoft.com/office/drawing/2014/main" val="901384393"/>
                    </a:ext>
                  </a:extLst>
                </a:gridCol>
              </a:tblGrid>
              <a:tr h="19009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FR01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User Registration &amp; Authentication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Sign-up, login, password recovery, role-based access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Core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839022059"/>
                  </a:ext>
                </a:extLst>
              </a:tr>
              <a:tr h="19009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FR02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User Profile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Edit profile, manage documents, preferences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Core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633468229"/>
                  </a:ext>
                </a:extLst>
              </a:tr>
              <a:tr h="19009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FR03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Patient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Registration, medical history, emergency contacts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Clinical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75399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64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422DB9-DF8E-4F67-AF50-CFE3A2A5A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38976"/>
              </p:ext>
            </p:extLst>
          </p:nvPr>
        </p:nvGraphicFramePr>
        <p:xfrm>
          <a:off x="0" y="0"/>
          <a:ext cx="12191999" cy="7871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568">
                  <a:extLst>
                    <a:ext uri="{9D8B030D-6E8A-4147-A177-3AD203B41FA5}">
                      <a16:colId xmlns:a16="http://schemas.microsoft.com/office/drawing/2014/main" val="2539517543"/>
                    </a:ext>
                  </a:extLst>
                </a:gridCol>
                <a:gridCol w="2965621">
                  <a:extLst>
                    <a:ext uri="{9D8B030D-6E8A-4147-A177-3AD203B41FA5}">
                      <a16:colId xmlns:a16="http://schemas.microsoft.com/office/drawing/2014/main" val="3900203474"/>
                    </a:ext>
                  </a:extLst>
                </a:gridCol>
                <a:gridCol w="2965621">
                  <a:extLst>
                    <a:ext uri="{9D8B030D-6E8A-4147-A177-3AD203B41FA5}">
                      <a16:colId xmlns:a16="http://schemas.microsoft.com/office/drawing/2014/main" val="2874191784"/>
                    </a:ext>
                  </a:extLst>
                </a:gridCol>
                <a:gridCol w="2965621">
                  <a:extLst>
                    <a:ext uri="{9D8B030D-6E8A-4147-A177-3AD203B41FA5}">
                      <a16:colId xmlns:a16="http://schemas.microsoft.com/office/drawing/2014/main" val="2576126736"/>
                    </a:ext>
                  </a:extLst>
                </a:gridCol>
                <a:gridCol w="1647568">
                  <a:extLst>
                    <a:ext uri="{9D8B030D-6E8A-4147-A177-3AD203B41FA5}">
                      <a16:colId xmlns:a16="http://schemas.microsoft.com/office/drawing/2014/main" val="1550338988"/>
                    </a:ext>
                  </a:extLst>
                </a:gridCol>
              </a:tblGrid>
              <a:tr h="7593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FR04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Appointment Scheduling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Book, reschedule, cancel appointments with doctors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3357889783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FR05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Electronic Medical Records (EMR)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Patient health records, diagnoses, allergies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4121905321"/>
                  </a:ext>
                </a:extLst>
              </a:tr>
              <a:tr h="4363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FR06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Prescription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Digital prescriptions, refill requests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3308518445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FR07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Laboratory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Test catalogue, order tests, upload results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Clinical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347835122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FR08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Pharmacy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Drug inventory, dispensing, expiry tracking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Pharmacy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3237544370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FR09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Billing &amp; Payment System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Invoicing, payment gateway, insurance claims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Finance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1151352063"/>
                  </a:ext>
                </a:extLst>
              </a:tr>
              <a:tr h="4363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FR10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Ward &amp; Bed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Bed allocation, admission/discharge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Facilities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676931238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FR11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Staff &amp; Schedule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Doctor/nurse shifts, leave requests, duty roster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HR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1140874682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FR12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Ambulance &amp; Emergency Tracking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Real-time tracking, dispatch coordination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Emergency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1330347088"/>
                  </a:ext>
                </a:extLst>
              </a:tr>
              <a:tr h="7465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FR13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Visitor &amp; Security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QR visitor passes, entry/exit logs, incidents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Security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579556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26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9A5338-B2B2-4E5A-9F3D-D7C29E47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680415"/>
              </p:ext>
            </p:extLst>
          </p:nvPr>
        </p:nvGraphicFramePr>
        <p:xfrm>
          <a:off x="0" y="0"/>
          <a:ext cx="12192000" cy="71192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567">
                  <a:extLst>
                    <a:ext uri="{9D8B030D-6E8A-4147-A177-3AD203B41FA5}">
                      <a16:colId xmlns:a16="http://schemas.microsoft.com/office/drawing/2014/main" val="2519292633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895177947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1175117735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1109192559"/>
                    </a:ext>
                  </a:extLst>
                </a:gridCol>
                <a:gridCol w="1647567">
                  <a:extLst>
                    <a:ext uri="{9D8B030D-6E8A-4147-A177-3AD203B41FA5}">
                      <a16:colId xmlns:a16="http://schemas.microsoft.com/office/drawing/2014/main" val="514916851"/>
                    </a:ext>
                  </a:extLst>
                </a:gridCol>
              </a:tblGrid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FR14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Inventory &amp; Supply Chain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Medical supplies, equipment tracking, reorder alerts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Inventory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3355169382"/>
                  </a:ext>
                </a:extLst>
              </a:tr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FR15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Insurance &amp; Claims Management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Insurance verification, claim submission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Finance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3944642768"/>
                  </a:ext>
                </a:extLst>
              </a:tr>
              <a:tr h="551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FR16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Notification System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Email, SMS, in-app notifications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Comms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2832987879"/>
                  </a:ext>
                </a:extLst>
              </a:tr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FR17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Admin Panel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User management, platform config, moderation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Admin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433953673"/>
                  </a:ext>
                </a:extLst>
              </a:tr>
              <a:tr h="551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FR18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Reports &amp; Analytics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Dashboards, exportable reports, KPIs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Medium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Admin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3564454244"/>
                  </a:ext>
                </a:extLst>
              </a:tr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FR19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Security Requirements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Encryption, RBAC, audit logs, HIPAA compliance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Security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2790424390"/>
                  </a:ext>
                </a:extLst>
              </a:tr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FR20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Performance Requirements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Load benchmarks, uptime, response-time SLAs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High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NFR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2236493868"/>
                  </a:ext>
                </a:extLst>
              </a:tr>
              <a:tr h="959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FR21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Feedback &amp; Complaints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Patient feedback, grievance redressal, ratings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Low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95644" marT="59778" marB="597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Services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644" marR="0" marT="59778" marB="59778" anchor="ctr"/>
                </a:tc>
                <a:extLst>
                  <a:ext uri="{0D108BD9-81ED-4DB2-BD59-A6C34878D82A}">
                    <a16:rowId xmlns:a16="http://schemas.microsoft.com/office/drawing/2014/main" val="4282552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627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6102-15E0-401B-A927-E9F267ED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4. NON-FUNCTIONAL REQUIREMENTS (NFR)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0AA76-5CB1-4DEE-BBC4-6D5ACD3F0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962" y="1199983"/>
            <a:ext cx="10515600" cy="628817"/>
          </a:xfrm>
        </p:spPr>
        <p:txBody>
          <a:bodyPr/>
          <a:lstStyle/>
          <a:p>
            <a:r>
              <a:rPr lang="en-US" b="1" dirty="0"/>
              <a:t>NFR-01: Performance &amp; Scalability</a:t>
            </a:r>
            <a:endParaRPr lang="en-GB" b="1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61A03F-04FB-401D-97DC-A11E1879A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908169"/>
              </p:ext>
            </p:extLst>
          </p:nvPr>
        </p:nvGraphicFramePr>
        <p:xfrm>
          <a:off x="0" y="1828800"/>
          <a:ext cx="12192002" cy="502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30">
                  <a:extLst>
                    <a:ext uri="{9D8B030D-6E8A-4147-A177-3AD203B41FA5}">
                      <a16:colId xmlns:a16="http://schemas.microsoft.com/office/drawing/2014/main" val="3649945362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1364251787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629281910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295508261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736160767"/>
                    </a:ext>
                  </a:extLst>
                </a:gridCol>
              </a:tblGrid>
              <a:tr h="81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514452890"/>
                  </a:ext>
                </a:extLst>
              </a:tr>
              <a:tr h="14062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NFR01.1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Response Time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Any page shall load in under 3 seconds under normal load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Load test at 2,000 VUs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242596444"/>
                  </a:ext>
                </a:extLst>
              </a:tr>
              <a:tr h="14062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NFR01.2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API Throughput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All API endpoints shall handle at least 500 requests/second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Load test with 500 RPS; error rate &lt; 0.1%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914654651"/>
                  </a:ext>
                </a:extLst>
              </a:tr>
              <a:tr h="14062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NFR01.3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Search Latency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Search queries shall return results within 500 ms at 95th percentile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p95 response time &lt; 500 ms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409245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0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A52302-7CE7-445E-B82C-953FFB949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2535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567">
                  <a:extLst>
                    <a:ext uri="{9D8B030D-6E8A-4147-A177-3AD203B41FA5}">
                      <a16:colId xmlns:a16="http://schemas.microsoft.com/office/drawing/2014/main" val="1820451713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1255583560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1512321183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3747252149"/>
                    </a:ext>
                  </a:extLst>
                </a:gridCol>
                <a:gridCol w="1647567">
                  <a:extLst>
                    <a:ext uri="{9D8B030D-6E8A-4147-A177-3AD203B41FA5}">
                      <a16:colId xmlns:a16="http://schemas.microsoft.com/office/drawing/2014/main" val="758756007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NFR01.4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Peak Concurrency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System shall support 3,000 concurrent sessions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Stress test to 3,000 VUs; no timeouts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059512928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NFR01.5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Report Generation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Bulk report generation shall complete within 30 seconds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Report request timed to file availability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4029320507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NFR01.6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 Scalability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 shall support horizontal read-replica scaling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Architecture review + staging test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75654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17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88BC-E0CD-4CD8-87EE-C255693B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NFR-02: Availability &amp; Reliability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6FA8E-8BF1-4B23-8EA5-8DA14F314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473185"/>
              </p:ext>
            </p:extLst>
          </p:nvPr>
        </p:nvGraphicFramePr>
        <p:xfrm>
          <a:off x="0" y="1299411"/>
          <a:ext cx="12192002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30">
                  <a:extLst>
                    <a:ext uri="{9D8B030D-6E8A-4147-A177-3AD203B41FA5}">
                      <a16:colId xmlns:a16="http://schemas.microsoft.com/office/drawing/2014/main" val="2028339141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876213586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77748113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951661642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921493127"/>
                    </a:ext>
                  </a:extLst>
                </a:gridCol>
              </a:tblGrid>
              <a:tr h="5669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827176707"/>
                  </a:ext>
                </a:extLst>
              </a:tr>
              <a:tr h="9838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NFR02.1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Uptime SLA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Platform shall maintain 99.9% uptime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Monitored via AWS CloudWatch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526663966"/>
                  </a:ext>
                </a:extLst>
              </a:tr>
              <a:tr h="9838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NFR02.2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Backup &amp; Recovery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Automated daily backups; RPO &lt; 1 hr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DR drill: restore from backup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766742218"/>
                  </a:ext>
                </a:extLst>
              </a:tr>
              <a:tr h="9838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NFR02.3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Disaster Recovery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System restore within 4 hours (RTO = 4 hrs)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DR failover drill; recovery time &lt; 4 hrs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007678574"/>
                  </a:ext>
                </a:extLst>
              </a:tr>
              <a:tr h="9838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NFR02.4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Graceful Degradation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Non-critical modules degrade without affecting core features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Simulate module failure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432297769"/>
                  </a:ext>
                </a:extLst>
              </a:tr>
              <a:tr h="98389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NFR02.5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Integrity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All financial and clinical transactions ACID-compliant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 integrity tests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96134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122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9320-19FE-4C47-8F67-829E1A18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NFR-03: Security &amp; Compliance (HIPAA)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1591F7-E222-4BC6-927D-05EB94232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977246"/>
              </p:ext>
            </p:extLst>
          </p:nvPr>
        </p:nvGraphicFramePr>
        <p:xfrm>
          <a:off x="0" y="1116531"/>
          <a:ext cx="12192000" cy="5741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28">
                  <a:extLst>
                    <a:ext uri="{9D8B030D-6E8A-4147-A177-3AD203B41FA5}">
                      <a16:colId xmlns:a16="http://schemas.microsoft.com/office/drawing/2014/main" val="2211547609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259972204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279880261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095016689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895212343"/>
                    </a:ext>
                  </a:extLst>
                </a:gridCol>
              </a:tblGrid>
              <a:tr h="3646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extLst>
                  <a:ext uri="{0D108BD9-81ED-4DB2-BD59-A6C34878D82A}">
                    <a16:rowId xmlns:a16="http://schemas.microsoft.com/office/drawing/2014/main" val="1893297043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Encryption at Rest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All PHI encrypted at rest using AES-256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 configuration audit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679366265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NFR03.2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Encryption in Transit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TLS 1.2 or higher; HTTPS enforced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SSL Labs scan score ≥ A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954892171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NFR03.3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Password Security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bcrypt hashing (cost factor ≥ 12)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Code review; no plain-text passwords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675630742"/>
                  </a:ext>
                </a:extLst>
              </a:tr>
              <a:tr h="634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NFR03.4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Input Validation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Server-side sanitisation for SQL injection/XSS/CSRF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OWASP ZAP scan; 0 critical vulns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3676596917"/>
                  </a:ext>
                </a:extLst>
              </a:tr>
              <a:tr h="36460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NFR03.5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Access Control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RBAC with least-privilege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Role matrix test: 50+ scenarios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4246563634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NFR03.6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PCI-DSS Compliance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 cardholder data stored on servers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PCI-DSS assessment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2234533145"/>
                  </a:ext>
                </a:extLst>
              </a:tr>
              <a:tr h="634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NFR03.7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Audit Logging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Immutable audit trail for all PHI access, retained 7 years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Log integrity test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4063948932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NFR03.8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HIPAA Compliance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BAA with cloud provider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Legal review + compliance checklist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3417556382"/>
                  </a:ext>
                </a:extLst>
              </a:tr>
              <a:tr h="6238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NFR03.9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Session Management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Session expiry after 15 minutes inactivity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Session timeout test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74741" marT="46713" marB="467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4741" marR="0" marT="46713" marB="46713" anchor="ctr"/>
                </a:tc>
                <a:extLst>
                  <a:ext uri="{0D108BD9-81ED-4DB2-BD59-A6C34878D82A}">
                    <a16:rowId xmlns:a16="http://schemas.microsoft.com/office/drawing/2014/main" val="1827487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63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F2A8-5097-47EA-B276-F25FF377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NFR-04: Usability &amp; Accessibility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A27B4-CD2E-448D-9601-3395A5E15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486183"/>
              </p:ext>
            </p:extLst>
          </p:nvPr>
        </p:nvGraphicFramePr>
        <p:xfrm>
          <a:off x="0" y="1395663"/>
          <a:ext cx="12191998" cy="5462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30">
                  <a:extLst>
                    <a:ext uri="{9D8B030D-6E8A-4147-A177-3AD203B41FA5}">
                      <a16:colId xmlns:a16="http://schemas.microsoft.com/office/drawing/2014/main" val="3572991733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2610309664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2856795963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654960765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592634158"/>
                    </a:ext>
                  </a:extLst>
                </a:gridCol>
              </a:tblGrid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521104107"/>
                  </a:ext>
                </a:extLst>
              </a:tr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NFR04.1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Usability Score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SUS score ≥ 80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Questionnaire to 10+ users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822689178"/>
                  </a:ext>
                </a:extLst>
              </a:tr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NFR04.2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Accessibility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WCAG 2.1 Level AA compliance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Automated audit + manual test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114311221"/>
                  </a:ext>
                </a:extLst>
              </a:tr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NFR04.3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Cross-Browser Support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Chrome, Firefox, Safari, Edge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Cross-browser test suite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826758846"/>
                  </a:ext>
                </a:extLst>
              </a:tr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NFR04.4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Responsive Design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Screen widths 768px to 1920px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Responsive design tests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168822081"/>
                  </a:ext>
                </a:extLst>
              </a:tr>
              <a:tr h="7061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NFR04.5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Error Messages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Clear, non-technical, actionable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UX review of all error states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072129985"/>
                  </a:ext>
                </a:extLst>
              </a:tr>
              <a:tr h="12254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NFR04.6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Help &amp; Onboarding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Complete core tasks without external help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Usability test: 5 new users, &lt; 2 assists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559896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0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95EB-E624-4454-A7E4-2278AB6F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NFR-05: Maintainability &amp; Portability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927B77-A486-4587-9CC8-B245465CC9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740501"/>
              </p:ext>
            </p:extLst>
          </p:nvPr>
        </p:nvGraphicFramePr>
        <p:xfrm>
          <a:off x="0" y="1270535"/>
          <a:ext cx="12192002" cy="5587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30">
                  <a:extLst>
                    <a:ext uri="{9D8B030D-6E8A-4147-A177-3AD203B41FA5}">
                      <a16:colId xmlns:a16="http://schemas.microsoft.com/office/drawing/2014/main" val="1185332547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144732206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934396785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2249828523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4066709816"/>
                    </a:ext>
                  </a:extLst>
                </a:gridCol>
              </a:tblGrid>
              <a:tr h="5233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856478405"/>
                  </a:ext>
                </a:extLst>
              </a:tr>
              <a:tr h="9081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NFR05.1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Code Coverage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Minimum unit test coverage of 80%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CI pipeline coverage badge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036613180"/>
                  </a:ext>
                </a:extLst>
              </a:tr>
              <a:tr h="9081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NFR05.2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Bug Resolution Time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P1 bugs &lt; 4 hours; P2 bugs &lt; 24 hours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Incident tracking MTTR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327437524"/>
                  </a:ext>
                </a:extLst>
              </a:tr>
              <a:tr h="9081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NFR05.3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Code Documentation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Public APIs and core logic documented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Swagger/OpenAPI spec published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881679218"/>
                  </a:ext>
                </a:extLst>
              </a:tr>
              <a:tr h="9081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NFR05.4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Modular Architecture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Microservices or modular monolith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Architecture review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551550262"/>
                  </a:ext>
                </a:extLst>
              </a:tr>
              <a:tr h="9081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NFR05.5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Zero-Downtime Deployments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Blue-green or rolling update strategy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Monitor uptime during deploy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979080153"/>
                  </a:ext>
                </a:extLst>
              </a:tr>
              <a:tr h="5233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NFR05.6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Technology Portability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Containerised with Docker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Build on AWS, Azure, local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Low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614273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56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7F96-A19F-404E-95FF-95782D7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NFR-06: Interoperability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F45192-20DE-41CF-AAF2-128D60E65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304568"/>
              </p:ext>
            </p:extLst>
          </p:nvPr>
        </p:nvGraphicFramePr>
        <p:xfrm>
          <a:off x="0" y="1366788"/>
          <a:ext cx="12191997" cy="5491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6829">
                  <a:extLst>
                    <a:ext uri="{9D8B030D-6E8A-4147-A177-3AD203B41FA5}">
                      <a16:colId xmlns:a16="http://schemas.microsoft.com/office/drawing/2014/main" val="4281897778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930195123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2747080425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2365312436"/>
                    </a:ext>
                  </a:extLst>
                </a:gridCol>
                <a:gridCol w="2676292">
                  <a:extLst>
                    <a:ext uri="{9D8B030D-6E8A-4147-A177-3AD203B41FA5}">
                      <a16:colId xmlns:a16="http://schemas.microsoft.com/office/drawing/2014/main" val="1966203705"/>
                    </a:ext>
                  </a:extLst>
                </a:gridCol>
              </a:tblGrid>
              <a:tr h="6914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 ID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ACCEPTANCE CRITERION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PRIORITY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780237458"/>
                  </a:ext>
                </a:extLst>
              </a:tr>
              <a:tr h="11999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NFR06.1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REST API Standard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RESTful conventions; Swagger/OpenAPI 3.0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Swagger UI at /api/docs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103526163"/>
                  </a:ext>
                </a:extLst>
              </a:tr>
              <a:tr h="11999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NFR06.2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Payment Gateway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Integrate Stripe + JazzCash/EasyPaisa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End-to-end payment test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093342531"/>
                  </a:ext>
                </a:extLst>
              </a:tr>
              <a:tr h="11999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NFR06.3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HL7/FHIR Compatibility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Support FHIR R4 for EMR exchange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FHIR endpoint validation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Medium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819530973"/>
                  </a:ext>
                </a:extLst>
              </a:tr>
              <a:tr h="11999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NFR06.4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IoT Integration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Support MQTT for medical devices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Device data ingestion test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551637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603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82E1-577B-49D9-8C47-4DF9E5F3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5. WORK BREAKDOWN STRUCTURE (WBS)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CDD62A-3FB7-4F3F-9196-9B943C6F3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745440"/>
              </p:ext>
            </p:extLst>
          </p:nvPr>
        </p:nvGraphicFramePr>
        <p:xfrm>
          <a:off x="77002" y="1597794"/>
          <a:ext cx="12114997" cy="5260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7162">
                  <a:extLst>
                    <a:ext uri="{9D8B030D-6E8A-4147-A177-3AD203B41FA5}">
                      <a16:colId xmlns:a16="http://schemas.microsoft.com/office/drawing/2014/main" val="3139203593"/>
                    </a:ext>
                  </a:extLst>
                </a:gridCol>
                <a:gridCol w="2946891">
                  <a:extLst>
                    <a:ext uri="{9D8B030D-6E8A-4147-A177-3AD203B41FA5}">
                      <a16:colId xmlns:a16="http://schemas.microsoft.com/office/drawing/2014/main" val="1136888882"/>
                    </a:ext>
                  </a:extLst>
                </a:gridCol>
                <a:gridCol w="2946891">
                  <a:extLst>
                    <a:ext uri="{9D8B030D-6E8A-4147-A177-3AD203B41FA5}">
                      <a16:colId xmlns:a16="http://schemas.microsoft.com/office/drawing/2014/main" val="1865504350"/>
                    </a:ext>
                  </a:extLst>
                </a:gridCol>
                <a:gridCol w="2946891">
                  <a:extLst>
                    <a:ext uri="{9D8B030D-6E8A-4147-A177-3AD203B41FA5}">
                      <a16:colId xmlns:a16="http://schemas.microsoft.com/office/drawing/2014/main" val="1074748868"/>
                    </a:ext>
                  </a:extLst>
                </a:gridCol>
                <a:gridCol w="1637162">
                  <a:extLst>
                    <a:ext uri="{9D8B030D-6E8A-4147-A177-3AD203B41FA5}">
                      <a16:colId xmlns:a16="http://schemas.microsoft.com/office/drawing/2014/main" val="3397339569"/>
                    </a:ext>
                  </a:extLst>
                </a:gridCol>
              </a:tblGrid>
              <a:tr h="704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Phase 3.0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SYSTEM DESIGN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All Members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 wks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850957716"/>
                  </a:ext>
                </a:extLst>
              </a:tr>
              <a:tr h="704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3.1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Architecture Design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Tech stack, cloud infra, microservices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Sheraz qasim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1583732298"/>
                  </a:ext>
                </a:extLst>
              </a:tr>
              <a:tr h="12205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3.2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 Design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ERD, schema, normalisation, indexing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Rayan ullah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264246238"/>
                  </a:ext>
                </a:extLst>
              </a:tr>
              <a:tr h="704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3.3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UI/UX Wireframes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Figma wireframes for all screens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Arman javeed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523483187"/>
                  </a:ext>
                </a:extLst>
              </a:tr>
              <a:tr h="704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3.4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API Design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REST endpoints, auth flow, payloads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Ali yasir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4217345209"/>
                  </a:ext>
                </a:extLst>
              </a:tr>
              <a:tr h="12223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3.5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Security Architecture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RBAC model, encryption, audit log design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Rayan ullah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 days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052009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700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6CB8-AD2F-4312-910C-ABC0AAD2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22093B-F78B-4B1B-A5E4-3DEBED90A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81680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567">
                  <a:extLst>
                    <a:ext uri="{9D8B030D-6E8A-4147-A177-3AD203B41FA5}">
                      <a16:colId xmlns:a16="http://schemas.microsoft.com/office/drawing/2014/main" val="2180995115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3623011858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604541598"/>
                    </a:ext>
                  </a:extLst>
                </a:gridCol>
                <a:gridCol w="2965622">
                  <a:extLst>
                    <a:ext uri="{9D8B030D-6E8A-4147-A177-3AD203B41FA5}">
                      <a16:colId xmlns:a16="http://schemas.microsoft.com/office/drawing/2014/main" val="2797295496"/>
                    </a:ext>
                  </a:extLst>
                </a:gridCol>
                <a:gridCol w="1647567">
                  <a:extLst>
                    <a:ext uri="{9D8B030D-6E8A-4147-A177-3AD203B41FA5}">
                      <a16:colId xmlns:a16="http://schemas.microsoft.com/office/drawing/2014/main" val="841252263"/>
                    </a:ext>
                  </a:extLst>
                </a:gridCol>
              </a:tblGrid>
              <a:tr h="1449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Phase 4.0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DEVELOPMENT — PHASE 1 (Core)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Dev Team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 wks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462218538"/>
                  </a:ext>
                </a:extLst>
              </a:tr>
              <a:tr h="2510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4.1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Auth &amp; User Module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Registration, login, SSO, RBAC, profile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Ali yasir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2615181464"/>
                  </a:ext>
                </a:extLst>
              </a:tr>
              <a:tr h="1449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4.2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&amp; Appointment Module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Patient reg, appointment booking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Shumail mehdi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 days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3675599955"/>
                  </a:ext>
                </a:extLst>
              </a:tr>
              <a:tr h="14490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4.3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EMR &amp; Prescription Module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EMR, prescriptions, drug interactions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Sheraz qasim</a:t>
                      </a:r>
                      <a:endParaRPr lang="en-GB" sz="10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GB" sz="10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01600" marR="0" marT="63500" marB="63500" anchor="ctr"/>
                </a:tc>
                <a:extLst>
                  <a:ext uri="{0D108BD9-81ED-4DB2-BD59-A6C34878D82A}">
                    <a16:rowId xmlns:a16="http://schemas.microsoft.com/office/drawing/2014/main" val="809619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407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4ED211-BB4E-4D05-99B0-D3E88BF018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67000"/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/>
          <a:lstStyle/>
          <a:p>
            <a:pPr algn="ctr"/>
            <a:r>
              <a:rPr lang="en-GB" sz="9600" i="1" dirty="0">
                <a:solidFill>
                  <a:schemeClr val="tx1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88900" dist="38100" dir="2700000" sx="116000" sy="116000" algn="tl">
                    <a:srgbClr val="000000">
                      <a:alpha val="12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0286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1514</Words>
  <Application>Microsoft Office PowerPoint</Application>
  <PresentationFormat>Widescreen</PresentationFormat>
  <Paragraphs>480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SimSun</vt:lpstr>
      <vt:lpstr>Arial</vt:lpstr>
      <vt:lpstr>Calibri</vt:lpstr>
      <vt:lpstr>Calibri Light</vt:lpstr>
      <vt:lpstr>Wingdings</vt:lpstr>
      <vt:lpstr>Office Theme</vt:lpstr>
      <vt:lpstr>PowerPoint Presentation</vt:lpstr>
      <vt:lpstr>TABLE OF CONTENTS </vt:lpstr>
      <vt:lpstr>1. PROJECT SCOPE </vt:lpstr>
      <vt:lpstr>1.2 Project Objectives </vt:lpstr>
      <vt:lpstr>1.3 Target Audience </vt:lpstr>
      <vt:lpstr>1.4 In-Scope vs Out-of-Scope </vt:lpstr>
      <vt:lpstr>1.5 Assumptions &amp; Constraints </vt:lpstr>
      <vt:lpstr>2. FUNCTIONAL REQUIREMENTS — OVERVIEW </vt:lpstr>
      <vt:lpstr>PowerPoint Presentation</vt:lpstr>
      <vt:lpstr>PowerPoint Presentation</vt:lpstr>
      <vt:lpstr>4. NON-FUNCTIONAL REQUIREMENTS (NFR) </vt:lpstr>
      <vt:lpstr>PowerPoint Presentation</vt:lpstr>
      <vt:lpstr>NFR-02: Availability &amp; Reliability </vt:lpstr>
      <vt:lpstr>NFR-03: Security &amp; Compliance (HIPAA) </vt:lpstr>
      <vt:lpstr>NFR-04: Usability &amp; Accessibility </vt:lpstr>
      <vt:lpstr>NFR-05: Maintainability &amp; Portability </vt:lpstr>
      <vt:lpstr>NFR-06: Interoperability </vt:lpstr>
      <vt:lpstr>5. WORK BREAKDOWN STRUCTURE (WBS)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created xsi:type="dcterms:W3CDTF">2026-05-11T15:01:36Z</dcterms:created>
  <dcterms:modified xsi:type="dcterms:W3CDTF">2026-05-11T17:20:14Z</dcterms:modified>
</cp:coreProperties>
</file>